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6E6A"/>
                </a:solidFill>
                <a:latin typeface="PingFang SC"/>
                <a:ea typeface="PingFang SC"/>
              </a:rPr>
              <a:t>组会进展汇报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/>
                <a:ea typeface="PingFang SC"/>
              </a:rPr>
              <a:t>感知、决策与端侧动作生成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5D2D8"/>
                </a:solidFill>
                <a:latin typeface="PingFang SC"/>
                <a:ea typeface="PingFang SC"/>
              </a:rPr>
              <a:t>端侧 MoMask 基准已完成；云侧打通视听决策链路并完成时延拆解。
提出 A∥B 双轨作为工程落地路径，并明确后续部署与优化顺序。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ingFang SC"/>
                <a:ea typeface="PingFang SC"/>
              </a:rPr>
              <a:t>HKUST  ·  RBM Project  ·  2026.08.20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5720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C4C2"/>
                </a:solidFill>
                <a:latin typeface="PingFang SC"/>
                <a:ea typeface="PingFang SC"/>
              </a:rPr>
              <a:t>提纲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  <a:ea typeface="PingFang SC"/>
              </a:rPr>
              <a:t>汇报结构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社交机器人  ·  感知—决策—动作生成  ·  组会 2026.08.20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1097280" cy="1024128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0992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58191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64A"/>
                </a:solidFill>
                <a:latin typeface="PingFang SC"/>
                <a:ea typeface="PingFang SC"/>
              </a:rPr>
              <a:t>端侧 MoMask 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965960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PingFang SC"/>
                <a:ea typeface="PingFang SC"/>
              </a:rPr>
              <a:t>树莓派文本→关节的时延与动作质量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87752"/>
            <a:ext cx="11155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587752"/>
            <a:ext cx="1097280" cy="1024128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803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752344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64A"/>
                </a:solidFill>
                <a:latin typeface="PingFang SC"/>
                <a:ea typeface="PingFang SC"/>
              </a:rPr>
              <a:t>云侧联调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136392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PingFang SC"/>
                <a:ea typeface="PingFang SC"/>
              </a:rPr>
              <a:t>视听觉处理、所用模型、时延成因，以及尚未完整上板的原因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58184"/>
            <a:ext cx="11155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58184"/>
            <a:ext cx="1097280" cy="1024128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5079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922776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64A"/>
                </a:solidFill>
                <a:latin typeface="PingFang SC"/>
                <a:ea typeface="PingFang SC"/>
              </a:rPr>
              <a:t>A∥B 双轨方案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30682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PingFang SC"/>
                <a:ea typeface="PingFang SC"/>
              </a:rPr>
              <a:t>用预置动作承接交互，用 MoMask 提供细粒度表达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928616"/>
            <a:ext cx="11155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928616"/>
            <a:ext cx="1097280" cy="1024128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22122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093208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64A"/>
                </a:solidFill>
                <a:latin typeface="PingFang SC"/>
                <a:ea typeface="PingFang SC"/>
              </a:rPr>
              <a:t>下一步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477256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PingFang SC"/>
                <a:ea typeface="PingFang SC"/>
              </a:rPr>
              <a:t>视听优化 → 端侧完整部署与实测 → 记忆相关工作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5720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C4C2"/>
                </a:solidFill>
                <a:latin typeface="PingFang SC"/>
                <a:ea typeface="PingFang SC"/>
              </a:rPr>
              <a:t>01  端侧 MoMask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  <a:ea typeface="PingFang SC"/>
              </a:rPr>
              <a:t>测试结论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2D8"/>
                </a:solidFill>
                <a:latin typeface="PingFang SC"/>
                <a:ea typeface="PingFang SC"/>
              </a:rPr>
              <a:t>设备：Raspberry Pi 5（4GB，CPU，4 线程）　·　100 条情绪均衡指令　·　计入 98 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社交机器人  ·  感知—决策—动作生成  ·  组会 2026.08.20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26974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364A"/>
                </a:solidFill>
                <a:latin typeface="PingFang SC"/>
                <a:ea typeface="PingFang SC"/>
              </a:rPr>
              <a:t>2.30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46E"/>
                </a:solidFill>
                <a:latin typeface="PingFang SC"/>
                <a:ea typeface="PingFang SC"/>
              </a:rPr>
              <a:t>平均生成时延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417320"/>
            <a:ext cx="26974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600200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364A"/>
                </a:solidFill>
                <a:latin typeface="PingFang SC"/>
                <a:ea typeface="PingFang SC"/>
              </a:rPr>
              <a:t>2.33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2316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46E"/>
                </a:solidFill>
                <a:latin typeface="PingFang SC"/>
                <a:ea typeface="PingFang SC"/>
              </a:rPr>
              <a:t>中位数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417320"/>
            <a:ext cx="26974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600200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364A"/>
                </a:solidFill>
                <a:latin typeface="PingFang SC"/>
                <a:ea typeface="PingFang SC"/>
              </a:rPr>
              <a:t>2.64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42316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46E"/>
                </a:solidFill>
                <a:latin typeface="PingFang SC"/>
                <a:ea typeface="PingFang SC"/>
              </a:rPr>
              <a:t>P95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26974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600200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364A"/>
                </a:solidFill>
                <a:latin typeface="PingFang SC"/>
                <a:ea typeface="PingFang SC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42316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46E"/>
                </a:solidFill>
                <a:latin typeface="PingFang SC"/>
                <a:ea typeface="PingFang SC"/>
              </a:rPr>
              <a:t>关节数值有效率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20440"/>
            <a:ext cx="1115568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749039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6E6A"/>
                </a:solidFill>
                <a:latin typeface="PingFang SC"/>
                <a:ea typeface="PingFang SC"/>
              </a:rPr>
              <a:t>说明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160520"/>
            <a:ext cx="10607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428"/>
                </a:solidFill>
                <a:latin typeface="PingFang SC"/>
                <a:ea typeface="PingFang SC"/>
              </a:rPr>
              <a:t>模型加载一次约 10.1 秒，不计入单条平均。加载完成后，单条文本生成关节坐标约 2.3 秒。
输出为 (T, 22, 3) 关节序列，本次测试关闭视频渲染，聚焦推理时延与数值稳定性。
该 2.3 秒应作为端侧动作生成的基准指标。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5720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C4C2"/>
                </a:solidFill>
                <a:latin typeface="PingFang SC"/>
                <a:ea typeface="PingFang SC"/>
              </a:rPr>
              <a:t>01  端侧 MoMask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  <a:ea typeface="PingFang SC"/>
              </a:rPr>
              <a:t>时延分布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2D8"/>
                </a:solidFill>
                <a:latin typeface="PingFang SC"/>
                <a:ea typeface="PingFang SC"/>
              </a:rPr>
              <a:t>左图：98 条端到端耗时直方图；右图：各情绪平均时延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社交机器人  ·  感知—决策—动作生成  ·  组会 2026.08.20</a:t>
            </a:r>
          </a:p>
        </p:txBody>
      </p:sp>
      <p:pic>
        <p:nvPicPr>
          <p:cNvPr id="10" name="Picture 9" descr="fig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33832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4892040"/>
            <a:ext cx="111556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PingFang SC"/>
                <a:ea typeface="PingFang SC"/>
              </a:rPr>
              <a:t>样本集中在 2.2–2.4 秒，未出现明显长尾。各情绪平均时延均在 2.2–2.5 秒，差异不大。
生成快慢主要由设备与推理配置决定，对情绪类别不敏感。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5720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C4C2"/>
                </a:solidFill>
                <a:latin typeface="PingFang SC"/>
                <a:ea typeface="PingFang SC"/>
              </a:rPr>
              <a:t>01  端侧 MoMask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  <a:ea typeface="PingFang SC"/>
              </a:rPr>
              <a:t>动作质量（代理指标）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2D8"/>
                </a:solidFill>
                <a:latin typeface="PingFang SC"/>
                <a:ea typeface="PingFang SC"/>
              </a:rPr>
              <a:t>无真值标注，用关节平均速度与加加速度（jerk）观察不同情绪下的运动幅度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社交机器人  ·  感知—决策—动作生成  ·  组会 2026.08.20</a:t>
            </a:r>
          </a:p>
        </p:txBody>
      </p:sp>
      <p:pic>
        <p:nvPicPr>
          <p:cNvPr id="10" name="Picture 9" descr="fig_motion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33832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4892040"/>
            <a:ext cx="111556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PingFang SC"/>
                <a:ea typeface="PingFang SC"/>
              </a:rPr>
              <a:t>高兴类别速度与 jerk 最高，悲伤最低，与情绪对应的动作强度一致。
说明文本条件确实在调节运动风格，而不是对所有提示生成同一套动作。jerk 偏高并不等于质量差。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5720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C4C2"/>
                </a:solidFill>
                <a:latin typeface="PingFang SC"/>
                <a:ea typeface="PingFang SC"/>
              </a:rPr>
              <a:t>02  云侧联调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  <a:ea typeface="PingFang SC"/>
              </a:rPr>
              <a:t>链路如何组织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2D8"/>
                </a:solidFill>
                <a:latin typeface="PingFang SC"/>
                <a:ea typeface="PingFang SC"/>
              </a:rPr>
              <a:t>在 Mac 上完成摄像头、麦克风、决策与 MoMask 的贯通；视频帧不上云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社交机器人  ·  感知—决策—动作生成  ·  组会 2026.08.20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361188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3611880" cy="566928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视觉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488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6E6A"/>
                </a:solidFill>
                <a:latin typeface="PingFang SC"/>
                <a:ea typeface="PingFang SC"/>
              </a:rPr>
              <a:t>本地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06040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PingFang SC"/>
                <a:ea typeface="PingFang SC"/>
              </a:rPr>
              <a:t>MediaPipe FaceMesh（468 点）
几何特征 + 逻辑回归
四类：中性 / 高兴 / 不快 / 惊讶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61188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417320"/>
            <a:ext cx="3611880" cy="566928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50876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听觉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1488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6E6A"/>
                </a:solidFill>
                <a:latin typeface="PingFang SC"/>
                <a:ea typeface="PingFang SC"/>
              </a:rPr>
              <a:t>本地采集 + 云端转写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606040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PingFang SC"/>
                <a:ea typeface="PingFang SC"/>
              </a:rPr>
              <a:t>麦克风录音 3.5–4 秒
云端 ASR：gpt-4o-transcribe
当前不做语音情绪分类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417320"/>
            <a:ext cx="361188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417320"/>
            <a:ext cx="3611880" cy="566928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50876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决策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1488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6E6A"/>
                </a:solidFill>
                <a:latin typeface="PingFang SC"/>
                <a:ea typeface="PingFang SC"/>
              </a:rPr>
              <a:t>云端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606040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PingFang SC"/>
                <a:ea typeface="PingFang SC"/>
              </a:rPr>
              <a:t>gpt-4o-mini（OpenAI 兼容中转）
输入为结构化感知 JSON
输出英文 action_prompt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5720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C4C2"/>
                </a:solidFill>
                <a:latin typeface="PingFang SC"/>
                <a:ea typeface="PingFang SC"/>
              </a:rPr>
              <a:t>02  云侧联调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  <a:ea typeface="PingFang SC"/>
              </a:rPr>
              <a:t>时延拆解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2D8"/>
                </a:solidFill>
                <a:latin typeface="PingFang SC"/>
                <a:ea typeface="PingFang SC"/>
              </a:rPr>
              <a:t>Mac 实机一轮约 15–17 秒；其中视觉约占 10 秒。云端只贡献 ASR 与 Decide。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社交机器人  ·  感知—决策—动作生成  ·  组会 2026.08.20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371600"/>
          <a:ext cx="113385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377440"/>
                <a:gridCol w="484632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环节</a:t>
                      </a:r>
                    </a:p>
                  </a:txBody>
                  <a:tcPr>
                    <a:solidFill>
                      <a:srgbClr val="1A36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实测</a:t>
                      </a:r>
                    </a:p>
                  </a:txBody>
                  <a:tcPr>
                    <a:solidFill>
                      <a:srgbClr val="1A36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处理方式</a:t>
                      </a:r>
                    </a:p>
                  </a:txBody>
                  <a:tcPr>
                    <a:solidFill>
                      <a:srgbClr val="1A36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说明</a:t>
                      </a:r>
                    </a:p>
                  </a:txBody>
                  <a:tcPr>
                    <a:solidFill>
                      <a:srgbClr val="1A36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视觉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9.9–10.6 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本机 FaceMesh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每轮重新开摄像头；标定等待上限 8 秒；正式采样 12 帧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录音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3.5–6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与视觉并行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被视觉墙钟覆盖，不额外增加等待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ASR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2.2–4.8 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云端转写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whisper-1 不可用，改用 gpt-4o-transcribe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Decide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2.2–2.8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gpt-4o-mini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根据情绪与转写生成动作描述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MoMask（实机）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未执行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Arbiter 降级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弱表情 + 低置信度，本轮只走预置动作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MoMask（mock 感知）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8.88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Mac CPU 子进程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428"/>
                          </a:solidFill>
                          <a:latin typeface="PingFang SC"/>
                          <a:ea typeface="PingFang SC"/>
                        </a:rPr>
                        <a:t>含模型冷启动，不可与端侧 2.3 s 直接比较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6692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PingFang SC"/>
                <a:ea typeface="PingFang SC"/>
              </a:rPr>
              <a:t>视觉耗时的主要来源是标定，不是 12 帧分类本身。合计帧量约为 warmup 15 + 标定 20 + 采样 12。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5720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C4C2"/>
                </a:solidFill>
                <a:latin typeface="PingFang SC"/>
                <a:ea typeface="PingFang SC"/>
              </a:rPr>
              <a:t>02  云侧联调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  <a:ea typeface="PingFang SC"/>
              </a:rPr>
              <a:t>两个容易混淆的数字，以及为何尚未完整上板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社交机器人  ·  感知—决策—动作生成  ·  组会 2026.08.20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5321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64A"/>
                </a:solidFill>
                <a:latin typeface="PingFang SC"/>
                <a:ea typeface="PingFang SC"/>
              </a:rPr>
              <a:t>2.3 s 与 8.9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5074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PingFang SC"/>
                <a:ea typeface="PingFang SC"/>
              </a:rPr>
              <a:t>端侧 2.3 秒：模型常驻内存后的单条生成时间，是正式基准。
Mac 8.9 秒：每次以子进程重新启动 gen_t2m.py，把加载 CLIP 与四份权重算进同一笔时间。
树莓派上仅加载就需要约 10 秒。两者测量口径不同，不能解释为模型变慢。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5321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64A"/>
                </a:solidFill>
                <a:latin typeface="PingFang SC"/>
                <a:ea typeface="PingFang SC"/>
              </a:rPr>
              <a:t>完整链路仍留在电脑侧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5074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PingFang SC"/>
                <a:ea typeface="PingFang SC"/>
              </a:rPr>
              <a:t>测试机为 4GB 树莓派。MoMask 推理可以运行，但端侧决策模型（Qwen2.5-1.5B）需要本机编译，多核编译峰值会占满内存并导致死机。
因此：视听采集、云端决策仍在 Mac 验证；板上目前打通的是 MoMask 与规则版 A∥B 空跑。
16GB 真机上将明显缓解该限制。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5720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C4C2"/>
                </a:solidFill>
                <a:latin typeface="PingFang SC"/>
                <a:ea typeface="PingFang SC"/>
              </a:rPr>
              <a:t>03  工程方案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  <a:ea typeface="PingFang SC"/>
              </a:rPr>
              <a:t>A∥B 双轨：先保证可交互，再补细动作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2D8"/>
                </a:solidFill>
                <a:latin typeface="PingFang SC"/>
                <a:ea typeface="PingFang SC"/>
              </a:rPr>
              <a:t>默认模式 A_parallel_B。失败时本轮仅保留 A，不撤销已执行动作。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社交机器人  ·  感知—决策—动作生成  ·  组会 2026.08.20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55321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532120" cy="566928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A  ·  预置动作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9456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PingFang SC"/>
                <a:ea typeface="PingFang SC"/>
              </a:rPr>
              <a:t>根据粗情绪与强度选择 ActionGroup（招手、鞠躬等）。
启动快，表达有限，用于兜底和即时反馈。
置信度过低、无有效语音、或后续模块失败时，本轮只走 A。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5321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5532120" cy="566928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46304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B  ·  MoMask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PingFang SC"/>
                <a:ea typeface="PingFang SC"/>
              </a:rPr>
              <a:t>由决策模块写出英文动作描述，再生成连续关节。
表达更细，时延以热启动约 2.3 秒为基准。
B 允许滞后到达：A 先维持交互，B 完成后替换为更完整的动作。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5720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C4C2"/>
                </a:solidFill>
                <a:latin typeface="PingFang SC"/>
                <a:ea typeface="PingFang SC"/>
              </a:rPr>
              <a:t>03  工程方案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  <a:ea typeface="PingFang SC"/>
              </a:rPr>
              <a:t>对时延的实际含义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社交机器人  ·  感知—决策—动作生成  ·  组会 2026.08.20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1155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1790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C6E6A"/>
                </a:solidFill>
                <a:latin typeface="PingFang SC"/>
                <a:ea typeface="PingFang SC"/>
              </a:rPr>
              <a:t>单轨串行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PingFang SC"/>
                <a:ea typeface="PingFang SC"/>
              </a:rPr>
              <a:t>标定、云端推理与动作生成依次等待，用户面对的是十余秒无响应。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42032"/>
            <a:ext cx="11155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88336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C6E6A"/>
                </a:solidFill>
                <a:latin typeface="PingFang SC"/>
                <a:ea typeface="PingFang SC"/>
              </a:rPr>
              <a:t>A∥B 并行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4495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PingFang SC"/>
                <a:ea typeface="PingFang SC"/>
              </a:rPr>
              <a:t>表情稳定后即可执行预置动作；MoMask 在后台生成，不阻塞第一反应。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12464"/>
            <a:ext cx="11155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5876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C6E6A"/>
                </a:solidFill>
                <a:latin typeface="PingFang SC"/>
                <a:ea typeface="PingFang SC"/>
              </a:rPr>
              <a:t>配套改造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15384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PingFang SC"/>
                <a:ea typeface="PingFang SC"/>
              </a:rPr>
              <a:t>摄像头保持开启、标定只做一次；MoMask 改为常驻进程，避免每次冷启动。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82896"/>
            <a:ext cx="111556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C6E6A"/>
                </a:solidFill>
                <a:latin typeface="PingFang SC"/>
                <a:ea typeface="PingFang SC"/>
              </a:rPr>
              <a:t>预期体感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85816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PingFang SC"/>
                <a:ea typeface="PingFang SC"/>
              </a:rPr>
              <a:t>交互立即有动作；细粒度关节约在两秒量级补齐。云往返只影响 B，不影响 A。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5720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C4C2"/>
                </a:solidFill>
                <a:latin typeface="PingFang SC"/>
                <a:ea typeface="PingFang SC"/>
              </a:rPr>
              <a:t>04  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  <a:ea typeface="PingFang SC"/>
              </a:rPr>
              <a:t>按顺序推进，不并行铺开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社交机器人  ·  感知—决策—动作生成  ·  组会 2026.08.20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361188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3611880" cy="1234440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44752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6E6A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C4C2"/>
                </a:solidFill>
                <a:latin typeface="PingFang SC"/>
                <a:ea typeface="PingFang SC"/>
              </a:rPr>
              <a:t>视听觉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1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提高速度与准确度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PingFang SC"/>
                <a:ea typeface="PingFang SC"/>
              </a:rPr>
              <a:t>摄像头常开，缩短标定。
稳定多帧投票。
端侧 ASR 替换云端转写。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61188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611880" cy="1234440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444752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6E6A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78308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C4C2"/>
                </a:solidFill>
                <a:latin typeface="PingFang SC"/>
                <a:ea typeface="PingFang SC"/>
              </a:rPr>
              <a:t>端侧部署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084831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完整上板并实测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88036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PingFang SC"/>
                <a:ea typeface="PingFang SC"/>
              </a:rPr>
              <a:t>完成 Qwen 1.5B 安装与决策冒烟。
4GB 上与 MoMask 错峰运行。
16GB 真机上验证同机链路。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61188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371600"/>
            <a:ext cx="3611880" cy="1234440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444752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6E6A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178308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C4C2"/>
                </a:solidFill>
                <a:latin typeface="PingFang SC"/>
                <a:ea typeface="PingFang SC"/>
              </a:rPr>
              <a:t>记忆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084831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主链路稳定后再做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88036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PingFang SC"/>
                <a:ea typeface="PingFang SC"/>
              </a:rPr>
              <a:t>用于连续交互中的情绪与意图延续。
现阶段接入会干扰时延与正确性验收。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45720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C4C2"/>
                </a:solidFill>
                <a:latin typeface="PingFang SC"/>
                <a:ea typeface="PingFang SC"/>
              </a:rPr>
              <a:t>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  <a:ea typeface="PingFang SC"/>
              </a:rPr>
              <a:t>三点共识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  <a:ea typeface="PingFang SC"/>
              </a:rPr>
              <a:t>社交机器人  ·  感知—决策—动作生成  ·  组会 2026.08.20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109728" cy="1325880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428"/>
                </a:solidFill>
                <a:latin typeface="PingFang SC"/>
                <a:ea typeface="PingFang SC"/>
              </a:rPr>
              <a:t>端侧 MoMask 基准为热启动约 2.3 秒/条，数值稳定，且不同情绪对应不同运动幅度。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26080"/>
            <a:ext cx="11155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926080"/>
            <a:ext cx="109728" cy="1325880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91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428"/>
                </a:solidFill>
                <a:latin typeface="PingFang SC"/>
                <a:ea typeface="PingFang SC"/>
              </a:rPr>
              <a:t>云侧十余秒主要来自每轮视觉标定与 MoMask 冷启动；ASR 与决策合计约 5–7 秒。完整链路受 4GB 内存限制，尚未全部部署到板上。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34840"/>
            <a:ext cx="11155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434840"/>
            <a:ext cx="109728" cy="1325880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00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428"/>
                </a:solidFill>
                <a:latin typeface="PingFang SC"/>
                <a:ea typeface="PingFang SC"/>
              </a:rPr>
              <a:t>落地采用 A∥B：预置动作保证响应，MoMask 补细动作。下一步先优化视听，再完整上板实测，最后考虑记忆。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ingFang SC"/>
                <a:ea typeface="PingFang SC"/>
              </a:rPr>
              <a:t>谢谢。欢迎讨论。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5D2D8"/>
                </a:solidFill>
                <a:latin typeface="PingFang SC"/>
                <a:ea typeface="PingFang SC"/>
              </a:rPr>
              <a:t>数据来源：树莓派 100 条基准、Mac 联调 timing.csv。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