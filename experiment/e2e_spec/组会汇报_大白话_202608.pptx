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6F6F"/>
                </a:solidFill>
                <a:latin typeface="PingFang SC" panose="020B0400000000000000" charset="-122"/>
                <a:ea typeface="PingFang SC" panose="020B0400000000000000" charset="-122"/>
              </a:rPr>
              <a:t>组会汇报</a:t>
            </a:r>
            <a:endParaRPr sz="1600" b="0">
              <a:solidFill>
                <a:srgbClr val="2A6F6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机器人怎么看、怎么听、怎么动</a:t>
            </a:r>
            <a:endParaRPr sz="36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端侧动作生成已经能跑。云侧联调看清了慢在哪。
接下来用双轨办法先落地，再把整套搬回树莓派。</a:t>
            </a:r>
            <a:endParaRPr sz="18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HKUST RBM  ·  2026.08</a:t>
            </a:r>
            <a:endParaRPr sz="140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 panose="020B0400000000000000" charset="-122"/>
                <a:ea typeface="PingFang SC" panose="020B0400000000000000" charset="-122"/>
              </a:rPr>
              <a:t>提纲</a:t>
            </a:r>
            <a:endParaRPr sz="1300" b="0">
              <a:solidFill>
                <a:srgbClr val="2A6F6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今天只讲四件事</a:t>
            </a:r>
            <a:endParaRPr sz="28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都用大白话。数字只留最有用的几个。</a:t>
            </a:r>
            <a:endParaRPr sz="15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051560" cy="54864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11556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3911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45C41"/>
                </a:solidFill>
                <a:latin typeface="PingFang SC" panose="020B0400000000000000" charset="-122"/>
                <a:ea typeface="PingFang SC" panose="020B0400000000000000" charset="-122"/>
              </a:rPr>
              <a:t>01</a:t>
            </a:r>
            <a:endParaRPr sz="2200" b="1">
              <a:solidFill>
                <a:srgbClr val="C45C4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54480" y="1892808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端侧 MoMask</a:t>
            </a:r>
            <a:endParaRPr sz="20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54480" y="2258568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树莓派上，一句话生成一套动作，大概 2 秒。</a:t>
            </a:r>
            <a:endParaRPr sz="15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2920" y="2834639"/>
            <a:ext cx="111556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90671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45C41"/>
                </a:solidFill>
                <a:latin typeface="PingFang SC" panose="020B0400000000000000" charset="-122"/>
                <a:ea typeface="PingFang SC" panose="020B0400000000000000" charset="-122"/>
              </a:rPr>
              <a:t>02</a:t>
            </a:r>
            <a:endParaRPr sz="2200" b="1">
              <a:solidFill>
                <a:srgbClr val="C45C4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54480" y="2944367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云侧联调</a:t>
            </a:r>
            <a:endParaRPr sz="20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54480" y="3310127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电脑上把看、听、想接起来。慢，主要慢在开机拍照和反复加载模型。</a:t>
            </a:r>
            <a:endParaRPr sz="15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2920" y="3886200"/>
            <a:ext cx="111556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4223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45C41"/>
                </a:solidFill>
                <a:latin typeface="PingFang SC" panose="020B0400000000000000" charset="-122"/>
                <a:ea typeface="PingFang SC" panose="020B0400000000000000" charset="-122"/>
              </a:rPr>
              <a:t>03</a:t>
            </a:r>
            <a:endParaRPr sz="2200" b="1">
              <a:solidFill>
                <a:srgbClr val="C45C4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54480" y="3995928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A + B 双轨</a:t>
            </a:r>
            <a:endParaRPr sz="20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54480" y="4361688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先立刻做一个简单动作，细动作在后台慢慢生成。</a:t>
            </a:r>
            <a:endParaRPr sz="15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2920" y="4937759"/>
            <a:ext cx="111556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93791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45C41"/>
                </a:solidFill>
                <a:latin typeface="PingFang SC" panose="020B0400000000000000" charset="-122"/>
                <a:ea typeface="PingFang SC" panose="020B0400000000000000" charset="-122"/>
              </a:rPr>
              <a:t>04</a:t>
            </a:r>
            <a:endParaRPr sz="2200" b="1">
              <a:solidFill>
                <a:srgbClr val="C45C4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54480" y="5047487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下一步</a:t>
            </a:r>
            <a:endParaRPr sz="20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554480" y="5413247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先把视听做快做准，再整套上树莓派，最后才做记忆。</a:t>
            </a:r>
            <a:endParaRPr sz="15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组会  ·  感知到动作  ·  2026.08</a:t>
            </a:r>
            <a:endParaRPr sz="11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2 / 16</a:t>
            </a:r>
            <a:endParaRPr sz="11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45C41"/>
                </a:solidFill>
                <a:latin typeface="PingFang SC" panose="020B0400000000000000" charset="-122"/>
                <a:ea typeface="PingFang SC" panose="020B0400000000000000" charset="-122"/>
              </a:rPr>
              <a:t>第一部分</a:t>
            </a:r>
            <a:endParaRPr sz="1600" b="0">
              <a:solidFill>
                <a:srgbClr val="C45C4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端侧已经能出动作</a:t>
            </a:r>
            <a:endParaRPr sz="3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9D4D8"/>
                </a:solidFill>
                <a:latin typeface="PingFang SC" panose="020B0400000000000000" charset="-122"/>
                <a:ea typeface="PingFang SC" panose="020B0400000000000000" charset="-122"/>
              </a:rPr>
              <a:t>给树莓派一句英文动作描述，它吐出全身关节坐标。
不渲染视频，只关心：稳不稳、快不快、像不像那种情绪。</a:t>
            </a:r>
            <a:endParaRPr sz="1800" b="0">
              <a:solidFill>
                <a:srgbClr val="C9D4D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 panose="020B0400000000000000" charset="-122"/>
                <a:ea typeface="PingFang SC" panose="020B0400000000000000" charset="-122"/>
              </a:rPr>
              <a:t>01  端侧 MoMask</a:t>
            </a:r>
            <a:endParaRPr sz="1300" b="0">
              <a:solidFill>
                <a:srgbClr val="2A6F6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一句话结果</a:t>
            </a:r>
            <a:endParaRPr sz="28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树莓派 5，4GB 内存，CPU，100 条情绪均衡指令。前 2 条当热身，不计入平均。</a:t>
            </a:r>
            <a:endParaRPr sz="15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051560" cy="54864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2.3 秒</a:t>
            </a:r>
            <a:endParaRPr sz="28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A6F6F"/>
                </a:solidFill>
                <a:latin typeface="PingFang SC" panose="020B0400000000000000" charset="-122"/>
                <a:ea typeface="PingFang SC" panose="020B0400000000000000" charset="-122"/>
              </a:rPr>
              <a:t>平均一条</a:t>
            </a:r>
            <a:endParaRPr sz="1600" b="1">
              <a:solidFill>
                <a:srgbClr val="2A6F6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最短 1.9，最长 2.7</a:t>
            </a:r>
            <a:endParaRPr sz="13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383280" y="182880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01168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2.6 秒</a:t>
            </a:r>
            <a:endParaRPr sz="28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20440" y="27889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A6F6F"/>
                </a:solidFill>
                <a:latin typeface="PingFang SC" panose="020B0400000000000000" charset="-122"/>
                <a:ea typeface="PingFang SC" panose="020B0400000000000000" charset="-122"/>
              </a:rPr>
              <a:t>最慢的那 5%</a:t>
            </a:r>
            <a:endParaRPr sz="1600" b="1">
              <a:solidFill>
                <a:srgbClr val="2A6F6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20440" y="32004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大部分都挤在 2.2～2.4</a:t>
            </a:r>
            <a:endParaRPr sz="13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01168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100%</a:t>
            </a:r>
            <a:endParaRPr sz="28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0" y="27889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A6F6F"/>
                </a:solidFill>
                <a:latin typeface="PingFang SC" panose="020B0400000000000000" charset="-122"/>
                <a:ea typeface="PingFang SC" panose="020B0400000000000000" charset="-122"/>
              </a:rPr>
              <a:t>数字全合法</a:t>
            </a:r>
            <a:endParaRPr sz="1600" b="1">
              <a:solidFill>
                <a:srgbClr val="2A6F6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没有算崩、没有乱码关节</a:t>
            </a:r>
            <a:endParaRPr sz="13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144000" y="182880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201168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10 秒</a:t>
            </a:r>
            <a:endParaRPr sz="28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81160" y="27889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A6F6F"/>
                </a:solidFill>
                <a:latin typeface="PingFang SC" panose="020B0400000000000000" charset="-122"/>
                <a:ea typeface="PingFang SC" panose="020B0400000000000000" charset="-122"/>
              </a:rPr>
              <a:t>模型只加载一次</a:t>
            </a:r>
            <a:endParaRPr sz="1600" b="1">
              <a:solidFill>
                <a:srgbClr val="2A6F6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81160" y="32004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这笔账不算进「一条 2.3 秒」</a:t>
            </a:r>
            <a:endParaRPr sz="13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920" y="443484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B1B1B"/>
                </a:solidFill>
                <a:latin typeface="PingFang SC" panose="020B0400000000000000" charset="-122"/>
                <a:ea typeface="PingFang SC" panose="020B0400000000000000" charset="-122"/>
              </a:rPr>
              <a:t>人话：模型开一次机要十秒。开好之后，再说「挥手」「鞠躬」，大约两秒就能出一套动作。
这个 2.3 秒，才是以后端侧应该报的「生成速度」。</a:t>
            </a:r>
            <a:endParaRPr sz="1700" b="0">
              <a:solidFill>
                <a:srgbClr val="1B1B1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组会  ·  感知到动作  ·  2026.08</a:t>
            </a:r>
            <a:endParaRPr sz="11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4 / 16</a:t>
            </a:r>
            <a:endParaRPr sz="11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 panose="020B0400000000000000" charset="-122"/>
                <a:ea typeface="PingFang SC" panose="020B0400000000000000" charset="-122"/>
              </a:rPr>
              <a:t>01  端侧 MoMask</a:t>
            </a:r>
            <a:endParaRPr sz="1300" b="0">
              <a:solidFill>
                <a:srgbClr val="2A6F6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时间稳不稳？看这张图</a:t>
            </a:r>
            <a:endParaRPr sz="28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左：98 条的耗时分布。右：不同情绪平均耗时，大家都在 2 秒出头，没有谁特别拖后腿。</a:t>
            </a:r>
            <a:endParaRPr sz="15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051560" cy="54864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latenc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11247120" cy="3246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074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1B1B"/>
                </a:solidFill>
                <a:latin typeface="PingFang SC" panose="020B0400000000000000" charset="-122"/>
                <a:ea typeface="PingFang SC" panose="020B0400000000000000" charset="-122"/>
              </a:rPr>
              <a:t>读图：柱子堆在 2.3 秒附近，没有拖到 4 秒、5 秒的尾巴。
高兴、悲伤、惊讶，生成时间差不多——慢不慢主要看机器，不太看这句话是开心还是难过。</a:t>
            </a:r>
            <a:endParaRPr sz="1600" b="0">
              <a:solidFill>
                <a:srgbClr val="1B1B1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组会  ·  感知到动作  ·  2026.08</a:t>
            </a:r>
            <a:endParaRPr sz="11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5 / 16</a:t>
            </a:r>
            <a:endParaRPr sz="11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 panose="020B0400000000000000" charset="-122"/>
                <a:ea typeface="PingFang SC" panose="020B0400000000000000" charset="-122"/>
              </a:rPr>
              <a:t>01  端侧 MoMask</a:t>
            </a:r>
            <a:endParaRPr sz="1300" b="0">
              <a:solidFill>
                <a:srgbClr val="2A6F6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生成的动作有没有情绪差别？</a:t>
            </a:r>
            <a:endParaRPr sz="28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没有真人标注，只能看关节自己动得猛不猛。速度大＝动作更开；抖动大＝变化更急。</a:t>
            </a:r>
            <a:endParaRPr sz="15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051560" cy="54864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motion_quali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83210"/>
            <a:ext cx="11247120" cy="4654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074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1B1B"/>
                </a:solidFill>
                <a:latin typeface="PingFang SC" panose="020B0400000000000000" charset="-122"/>
                <a:ea typeface="PingFang SC" panose="020B0400000000000000" charset="-122"/>
              </a:rPr>
              <a:t>读图：高兴动得最开、变化最急；悲伤最收着。这和常识一致——说明文本真的在调动作，不是每句都生成同一套站桩。
抖动高不等于难看，高兴本来就该更「蹦」。</a:t>
            </a:r>
            <a:endParaRPr sz="1600" b="0">
              <a:solidFill>
                <a:srgbClr val="1B1B1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组会  ·  感知到动作  ·  2026.08</a:t>
            </a:r>
            <a:endParaRPr sz="11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6 / 16</a:t>
            </a:r>
            <a:endParaRPr sz="11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45C41"/>
                </a:solidFill>
                <a:latin typeface="PingFang SC" panose="020B0400000000000000" charset="-122"/>
                <a:ea typeface="PingFang SC" panose="020B0400000000000000" charset="-122"/>
              </a:rPr>
              <a:t>第二部分</a:t>
            </a:r>
            <a:endParaRPr sz="1600" b="0">
              <a:solidFill>
                <a:srgbClr val="C45C4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云侧联调：先在电脑上把链路跑通</a:t>
            </a:r>
            <a:endParaRPr sz="3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9D4D8"/>
                </a:solidFill>
                <a:latin typeface="PingFang SC" panose="020B0400000000000000" charset="-122"/>
                <a:ea typeface="PingFang SC" panose="020B0400000000000000" charset="-122"/>
              </a:rPr>
              <a:t>看和听在电脑本地做。想一想用云端小模型。
整套还没有完整搬到树莓派——4GB 装不下同时编译和推理。</a:t>
            </a:r>
            <a:endParaRPr sz="1800" b="0">
              <a:solidFill>
                <a:srgbClr val="C9D4D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 panose="020B0400000000000000" charset="-122"/>
                <a:ea typeface="PingFang SC" panose="020B0400000000000000" charset="-122"/>
              </a:rPr>
              <a:t>02  云侧联调</a:t>
            </a:r>
            <a:endParaRPr sz="1300" b="0">
              <a:solidFill>
                <a:srgbClr val="2A6F6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看、听、想，各干各的</a:t>
            </a:r>
            <a:endParaRPr sz="28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没有把视频丢给大模型看图聊天。云端只负责「听成文字」和「写成动作句子」。</a:t>
            </a:r>
            <a:endParaRPr sz="15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051560" cy="54864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3611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3611880" cy="6400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看</a:t>
            </a:r>
            <a:endParaRPr sz="2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5C41"/>
                </a:solidFill>
                <a:latin typeface="PingFang SC" panose="020B0400000000000000" charset="-122"/>
                <a:ea typeface="PingFang SC" panose="020B0400000000000000" charset="-122"/>
              </a:rPr>
              <a:t>电脑本地</a:t>
            </a:r>
            <a:endParaRPr sz="1400" b="1">
              <a:solidFill>
                <a:srgbClr val="C45C4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3246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1B1B"/>
                </a:solidFill>
                <a:latin typeface="PingFang SC" panose="020B0400000000000000" charset="-122"/>
                <a:ea typeface="PingFang SC" panose="020B0400000000000000" charset="-122"/>
              </a:rPr>
              <a:t>摄像头拍脸
468 个关键点
算嘴眼是否上扬
判 4 种情绪</a:t>
            </a:r>
            <a:endParaRPr sz="1600" b="0">
              <a:solidFill>
                <a:srgbClr val="1B1B1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97680" y="1783080"/>
            <a:ext cx="3611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783080"/>
            <a:ext cx="3611880" cy="64008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874519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听</a:t>
            </a:r>
            <a:endParaRPr sz="2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80560" y="256032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5C41"/>
                </a:solidFill>
                <a:latin typeface="PingFang SC" panose="020B0400000000000000" charset="-122"/>
                <a:ea typeface="PingFang SC" panose="020B0400000000000000" charset="-122"/>
              </a:rPr>
              <a:t>先本地，再上云</a:t>
            </a:r>
            <a:endParaRPr sz="1400" b="1">
              <a:solidFill>
                <a:srgbClr val="C45C4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80560" y="2971800"/>
            <a:ext cx="3246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1B1B"/>
                </a:solidFill>
                <a:latin typeface="PingFang SC" panose="020B0400000000000000" charset="-122"/>
                <a:ea typeface="PingFang SC" panose="020B0400000000000000" charset="-122"/>
              </a:rPr>
              <a:t>麦克风录 3～4 秒
送到云端转成文字
不做语音情绪
文字拿去当「用户想干什么」</a:t>
            </a:r>
            <a:endParaRPr sz="1600" b="0">
              <a:solidFill>
                <a:srgbClr val="1B1B1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138160" y="1783080"/>
            <a:ext cx="3611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783080"/>
            <a:ext cx="3611880" cy="6400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874519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想</a:t>
            </a:r>
            <a:endParaRPr sz="2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21040" y="256032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5C41"/>
                </a:solidFill>
                <a:latin typeface="PingFang SC" panose="020B0400000000000000" charset="-122"/>
                <a:ea typeface="PingFang SC" panose="020B0400000000000000" charset="-122"/>
              </a:rPr>
              <a:t>云端小模型</a:t>
            </a:r>
            <a:endParaRPr sz="1400" b="1">
              <a:solidFill>
                <a:srgbClr val="C45C4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21040" y="2971800"/>
            <a:ext cx="3246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1B1B"/>
                </a:solidFill>
                <a:latin typeface="PingFang SC" panose="020B0400000000000000" charset="-122"/>
                <a:ea typeface="PingFang SC" panose="020B0400000000000000" charset="-122"/>
              </a:rPr>
              <a:t>模型：gpt-4o-mini
只看结构化结果
写出一句英文动作
再交给 MoMask</a:t>
            </a:r>
            <a:endParaRPr sz="1600" b="0">
              <a:solidFill>
                <a:srgbClr val="1B1B1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组会  ·  感知到动作  ·  2026.08</a:t>
            </a:r>
            <a:endParaRPr sz="11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8 / 16</a:t>
            </a:r>
            <a:endParaRPr sz="11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 panose="020B0400000000000000" charset="-122"/>
                <a:ea typeface="PingFang SC" panose="020B0400000000000000" charset="-122"/>
              </a:rPr>
              <a:t>02  云侧联调</a:t>
            </a:r>
            <a:endParaRPr sz="1300" b="0">
              <a:solidFill>
                <a:srgbClr val="2A6F6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为啥一轮要十几秒？</a:t>
            </a:r>
            <a:endParaRPr sz="28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电脑实测：看脸约 10 秒，听约 3 秒，想约 2.5 秒。真正的云开销只有后两笔。</a:t>
            </a:r>
            <a:endParaRPr sz="15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051560" cy="54864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11155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745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看脸 10 秒</a:t>
            </a:r>
            <a:endParaRPr sz="18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26771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每轮重新打开摄像头，还要对着镜头「放轻松」标定大约 8 秒。
真正用来判情绪的只有大约 12 帧。10 秒不是识别慢，是每次都在重新开机。</a:t>
            </a:r>
            <a:endParaRPr sz="15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3154680"/>
            <a:ext cx="11155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听 + 想 5～7 秒</a:t>
            </a:r>
            <a:endParaRPr sz="18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368503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录音可以和看脸同时进行，所以 3.5 秒录音被 10 秒盖住了。
转文字、写动作句才是额外等的云时间。</a:t>
            </a:r>
            <a:endParaRPr sz="15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2920" y="4572000"/>
            <a:ext cx="11155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709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MoMask 8.9 秒是冤枉账</a:t>
            </a:r>
            <a:endParaRPr sz="18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510235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树莓派上模型已经在内存里，一条只要 2.3 秒。
电脑这次每轮重新启动 MoMask，把「开机 10 秒」也算进去了，所以变成 8.9 秒。模型没有变慢。</a:t>
            </a:r>
            <a:endParaRPr sz="15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组会  ·  感知到动作  ·  2026.08</a:t>
            </a:r>
            <a:endParaRPr sz="11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9 / 16</a:t>
            </a:r>
            <a:endParaRPr sz="11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 panose="020B0400000000000000" charset="-122"/>
                <a:ea typeface="PingFang SC" panose="020B0400000000000000" charset="-122"/>
              </a:rPr>
              <a:t>02  还没全部上端侧</a:t>
            </a:r>
            <a:endParaRPr sz="1300" b="0">
              <a:solidFill>
                <a:srgbClr val="2A6F6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不是不想上树莓派，是 4GB 太挤</a:t>
            </a:r>
            <a:endParaRPr sz="28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测试机只有 4GB 运行内存。装东西和跑东西，抢的是同一块内存。</a:t>
            </a:r>
            <a:endParaRPr sz="15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051560" cy="54864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11155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4708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已经上去的</a:t>
            </a:r>
            <a:endParaRPr sz="17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MoMask 能跑；A+B 的规则决策能空跑通。代码已经拷到板上。</a:t>
            </a:r>
            <a:endParaRPr sz="15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2816352"/>
            <a:ext cx="11155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还在电脑上的</a:t>
            </a:r>
            <a:endParaRPr sz="17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327355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摄像头情绪、云端听写、云端写动作句。这些还没在树上完整串起来。</a:t>
            </a:r>
            <a:endParaRPr sz="15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2920" y="3895344"/>
            <a:ext cx="11155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0507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45C41"/>
                </a:solidFill>
                <a:latin typeface="PingFang SC" panose="020B0400000000000000" charset="-122"/>
                <a:ea typeface="PingFang SC" panose="020B0400000000000000" charset="-122"/>
              </a:rPr>
              <a:t>卡住的原因</a:t>
            </a:r>
            <a:endParaRPr sz="1700" b="1">
              <a:solidFill>
                <a:srgbClr val="C45C4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435254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端侧要用的小模型 Qwen 没有现成安装包，只能现场编译。编译器一开多核，内存会被吃光，机器直接死机。</a:t>
            </a:r>
            <a:endParaRPr sz="15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2920" y="4974336"/>
            <a:ext cx="11155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084064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人话</a:t>
            </a:r>
            <a:endParaRPr sz="17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1520" y="543153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4GB 够「跑一次生成」，不够「一边装大工具、一边跑生成」。16GB 的真机就不会这么脆。</a:t>
            </a:r>
            <a:endParaRPr sz="15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组会  ·  感知到动作  ·  2026.08</a:t>
            </a:r>
            <a:endParaRPr sz="11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10 / 16</a:t>
            </a:r>
            <a:endParaRPr sz="11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45C41"/>
                </a:solidFill>
                <a:latin typeface="PingFang SC" panose="020B0400000000000000" charset="-122"/>
                <a:ea typeface="PingFang SC" panose="020B0400000000000000" charset="-122"/>
              </a:rPr>
              <a:t>第三部分</a:t>
            </a:r>
            <a:endParaRPr sz="1600" b="0">
              <a:solidFill>
                <a:srgbClr val="C45C4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备选：A + B，先动起来</a:t>
            </a:r>
            <a:endParaRPr sz="3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9D4D8"/>
                </a:solidFill>
                <a:latin typeface="PingFang SC" panose="020B0400000000000000" charset="-122"/>
                <a:ea typeface="PingFang SC" panose="020B0400000000000000" charset="-122"/>
              </a:rPr>
              <a:t>人等 15 秒会觉得机器人死机。
所以正式落地不走「全部算完再动」，而走双轨。</a:t>
            </a:r>
            <a:endParaRPr sz="1800" b="0">
              <a:solidFill>
                <a:srgbClr val="C9D4D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 panose="020B0400000000000000" charset="-122"/>
                <a:ea typeface="PingFang SC" panose="020B0400000000000000" charset="-122"/>
              </a:rPr>
              <a:t>03  双轨架构</a:t>
            </a:r>
            <a:endParaRPr sz="1300" b="0">
              <a:solidFill>
                <a:srgbClr val="2A6F6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一边马上动，一边慢慢做漂亮动作</a:t>
            </a:r>
            <a:endParaRPr sz="28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A 是预置动作，保证互动。B 是 MoMask，保证动作细。默认两条一起跑。</a:t>
            </a:r>
            <a:endParaRPr sz="15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051560" cy="54864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86400" cy="59436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A 轨 · 保底</a:t>
            </a:r>
            <a:endParaRPr sz="2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1B1B"/>
                </a:solidFill>
                <a:latin typeface="PingFang SC" panose="020B0400000000000000" charset="-122"/>
                <a:ea typeface="PingFang SC" panose="020B0400000000000000" charset="-122"/>
              </a:rPr>
              <a:t>开心就招手，难过就鞠躬。
动作是现成的，几乎马上能播。
不求好看，求「机器人还活着」。
拿不准、没听清、后面算失败：
这一轮只走 A，前面已经做的动作也不撤回。</a:t>
            </a:r>
            <a:endParaRPr sz="1600" b="0">
              <a:solidFill>
                <a:srgbClr val="1B1B1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17920" y="1783080"/>
            <a:ext cx="5486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83080"/>
            <a:ext cx="5486400" cy="59436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87451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B 轨 · 正式</a:t>
            </a:r>
            <a:endParaRPr sz="2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92240" y="260604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1B1B"/>
                </a:solidFill>
                <a:latin typeface="PingFang SC" panose="020B0400000000000000" charset="-122"/>
                <a:ea typeface="PingFang SC" panose="020B0400000000000000" charset="-122"/>
              </a:rPr>
              <a:t>根据表情和说话内容，写一句细的英文。
MoMask 再生成连续关节。
热启动大约 2 秒，可以接受。
B 可以比 A 晚到。A 先把场撑住，
B 到了再换成更像样的动作。</a:t>
            </a:r>
            <a:endParaRPr sz="1600" b="0">
              <a:solidFill>
                <a:srgbClr val="1B1B1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组会  ·  感知到动作  ·  2026.08</a:t>
            </a:r>
            <a:endParaRPr sz="11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12 / 16</a:t>
            </a:r>
            <a:endParaRPr sz="11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 panose="020B0400000000000000" charset="-122"/>
                <a:ea typeface="PingFang SC" panose="020B0400000000000000" charset="-122"/>
              </a:rPr>
              <a:t>03  双轨架构</a:t>
            </a:r>
            <a:endParaRPr sz="1300" b="0">
              <a:solidFill>
                <a:srgbClr val="2A6F6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这样为什么能少等？</a:t>
            </a:r>
            <a:endParaRPr sz="28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用户感知的是「机器人什么时候开始动」，不是「后台全部算完」。</a:t>
            </a:r>
            <a:endParaRPr sz="15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051560" cy="54864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557784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现在如果单轨死等</a:t>
            </a:r>
            <a:endParaRPr sz="18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看脸 10 秒 + 云 5 秒 + 生成 2 秒
人要盯着十几秒的木头人</a:t>
            </a:r>
            <a:endParaRPr sz="16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557784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116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改成 A + B</a:t>
            </a:r>
            <a:endParaRPr sz="18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37960" y="25146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表情一稳，A 立刻招手/鞠躬
B 在后台写句子、出关节</a:t>
            </a:r>
            <a:endParaRPr sz="16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557784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69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工程上还要改两刀</a:t>
            </a:r>
            <a:endParaRPr sz="18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4572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摄像头不要每轮重开
MoMask 不要每次重新加载</a:t>
            </a:r>
            <a:endParaRPr sz="16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309360" y="3840480"/>
            <a:ext cx="557784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069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改完之后的体感</a:t>
            </a:r>
            <a:endParaRPr sz="18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37960" y="4572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眼前马上有动作
细动作大约两秒后补上</a:t>
            </a:r>
            <a:endParaRPr sz="16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组会  ·  感知到动作  ·  2026.08</a:t>
            </a:r>
            <a:endParaRPr sz="11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13 / 16</a:t>
            </a:r>
            <a:endParaRPr sz="11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 panose="020B0400000000000000" charset="-122"/>
                <a:ea typeface="PingFang SC" panose="020B0400000000000000" charset="-122"/>
              </a:rPr>
              <a:t>04  下一步</a:t>
            </a:r>
            <a:endParaRPr sz="1300" b="0">
              <a:solidFill>
                <a:srgbClr val="2A6F6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三步，不并行抢</a:t>
            </a:r>
            <a:endParaRPr sz="28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先把看和听做好，再完整上树莓派，最后才碰记忆。</a:t>
            </a:r>
            <a:endParaRPr sz="15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051560" cy="54864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3611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3611880" cy="105156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45C41"/>
                </a:solidFill>
                <a:latin typeface="PingFang SC" panose="020B0400000000000000" charset="-122"/>
                <a:ea typeface="PingFang SC" panose="020B0400000000000000" charset="-122"/>
              </a:rPr>
              <a:t>1</a:t>
            </a:r>
            <a:endParaRPr sz="2200" b="1">
              <a:solidFill>
                <a:srgbClr val="C45C4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视听又快又准</a:t>
            </a:r>
            <a:endParaRPr sz="18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3154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1B1B"/>
                </a:solidFill>
                <a:latin typeface="PingFang SC" panose="020B0400000000000000" charset="-122"/>
                <a:ea typeface="PingFang SC" panose="020B0400000000000000" charset="-122"/>
              </a:rPr>
              <a:t>摄像头常开，标定只做一次。
少帧、稳表情。
听改成板上的小模型，不再每次走云。</a:t>
            </a:r>
            <a:endParaRPr sz="1600" b="0">
              <a:solidFill>
                <a:srgbClr val="1B1B1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97680" y="1783080"/>
            <a:ext cx="3611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783080"/>
            <a:ext cx="3611880" cy="105156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874519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45C41"/>
                </a:solidFill>
                <a:latin typeface="PingFang SC" panose="020B0400000000000000" charset="-122"/>
                <a:ea typeface="PingFang SC" panose="020B0400000000000000" charset="-122"/>
              </a:rPr>
              <a:t>2</a:t>
            </a:r>
            <a:endParaRPr sz="2200" b="1">
              <a:solidFill>
                <a:srgbClr val="C45C4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97680" y="228600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整套部署到端侧并实测</a:t>
            </a:r>
            <a:endParaRPr sz="18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26280" y="3063240"/>
            <a:ext cx="3154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1B1B"/>
                </a:solidFill>
                <a:latin typeface="PingFang SC" panose="020B0400000000000000" charset="-122"/>
                <a:ea typeface="PingFang SC" panose="020B0400000000000000" charset="-122"/>
              </a:rPr>
              <a:t>Qwen 小模型装完再测写句子。
和 MoMask 错开跑，避免 4GB 挤爆。
有 16GB 真机后，再测同机完整链路。</a:t>
            </a:r>
            <a:endParaRPr sz="1600" b="0">
              <a:solidFill>
                <a:srgbClr val="1B1B1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138160" y="1783080"/>
            <a:ext cx="3611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783080"/>
            <a:ext cx="3611880" cy="105156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874519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45C41"/>
                </a:solidFill>
                <a:latin typeface="PingFang SC" panose="020B0400000000000000" charset="-122"/>
                <a:ea typeface="PingFang SC" panose="020B0400000000000000" charset="-122"/>
              </a:rPr>
              <a:t>3</a:t>
            </a:r>
            <a:endParaRPr sz="2200" b="1">
              <a:solidFill>
                <a:srgbClr val="C45C4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38160" y="228600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这些结束再做记忆</a:t>
            </a:r>
            <a:endParaRPr sz="18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66760" y="3063240"/>
            <a:ext cx="3154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1B1B"/>
                </a:solidFill>
                <a:latin typeface="PingFang SC" panose="020B0400000000000000" charset="-122"/>
                <a:ea typeface="PingFang SC" panose="020B0400000000000000" charset="-122"/>
              </a:rPr>
              <a:t>记住刚才聊过什么、情绪有没有变。
用来改下一轮动作，而不是再堆一个大模型。
现在接入会干扰主链路验收。</a:t>
            </a:r>
            <a:endParaRPr sz="1600" b="0">
              <a:solidFill>
                <a:srgbClr val="1B1B1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组会  ·  感知到动作  ·  2026.08</a:t>
            </a:r>
            <a:endParaRPr sz="11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14 / 16</a:t>
            </a:r>
            <a:endParaRPr sz="11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 panose="020B0400000000000000" charset="-122"/>
                <a:ea typeface="PingFang SC" panose="020B0400000000000000" charset="-122"/>
              </a:rPr>
              <a:t>带走三句话</a:t>
            </a:r>
            <a:endParaRPr sz="1300" b="0">
              <a:solidFill>
                <a:srgbClr val="2A6F6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4B"/>
                </a:solidFill>
                <a:latin typeface="PingFang SC" panose="020B0400000000000000" charset="-122"/>
                <a:ea typeface="PingFang SC" panose="020B0400000000000000" charset="-122"/>
              </a:rPr>
              <a:t>今天如果只记住这些</a:t>
            </a:r>
            <a:endParaRPr sz="2800" b="1">
              <a:solidFill>
                <a:srgbClr val="1B3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051560" cy="54864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11155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128016" cy="1143000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59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B1B1B"/>
                </a:solidFill>
                <a:latin typeface="PingFang SC" panose="020B0400000000000000" charset="-122"/>
                <a:ea typeface="PingFang SC" panose="020B0400000000000000" charset="-122"/>
              </a:rPr>
              <a:t>树上：一句话出动作，大约两秒，高兴动得开、悲伤收着。</a:t>
            </a:r>
            <a:endParaRPr sz="2000" b="0">
              <a:solidFill>
                <a:srgbClr val="1B1B1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3200400"/>
            <a:ext cx="11155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200400"/>
            <a:ext cx="128016" cy="1143000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B1B1B"/>
                </a:solidFill>
                <a:latin typeface="PingFang SC" panose="020B0400000000000000" charset="-122"/>
                <a:ea typeface="PingFang SC" panose="020B0400000000000000" charset="-122"/>
              </a:rPr>
              <a:t>云上：慢主要是每次重开摄像头，加上每次重开 MoMask。不是模型突然变差。</a:t>
            </a:r>
            <a:endParaRPr sz="2000" b="0">
              <a:solidFill>
                <a:srgbClr val="1B1B1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02920" y="4526279"/>
            <a:ext cx="11155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526279"/>
            <a:ext cx="128016" cy="1143000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46319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B1B1B"/>
                </a:solidFill>
                <a:latin typeface="PingFang SC" panose="020B0400000000000000" charset="-122"/>
                <a:ea typeface="PingFang SC" panose="020B0400000000000000" charset="-122"/>
              </a:rPr>
              <a:t>落地：A 先动、B 后补。整套上树莓派要等内存和安装收尾；记忆放最后。</a:t>
            </a:r>
            <a:endParaRPr sz="2000" b="0">
              <a:solidFill>
                <a:srgbClr val="1B1B1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组会  ·  感知到动作  ·  2026.08</a:t>
            </a:r>
            <a:endParaRPr sz="11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 panose="020B0400000000000000" charset="-122"/>
                <a:ea typeface="PingFang SC" panose="020B0400000000000000" charset="-122"/>
              </a:rPr>
              <a:t>15 / 16</a:t>
            </a:r>
            <a:endParaRPr sz="1100" b="0">
              <a:solidFill>
                <a:srgbClr val="5C5C5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谢谢。</a:t>
            </a:r>
            <a:endParaRPr sz="4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3520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D4D8"/>
                </a:solidFill>
                <a:latin typeface="PingFang SC" panose="020B0400000000000000" charset="-122"/>
                <a:ea typeface="PingFang SC" panose="020B0400000000000000" charset="-122"/>
              </a:rPr>
              <a:t>先对齐口径，再谈优化。</a:t>
            </a:r>
            <a:endParaRPr sz="2000" b="0">
              <a:solidFill>
                <a:srgbClr val="C9D4D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A0A8"/>
                </a:solidFill>
                <a:latin typeface="PingFang SC" panose="020B0400000000000000" charset="-122"/>
                <a:ea typeface="PingFang SC" panose="020B0400000000000000" charset="-122"/>
              </a:rPr>
              <a:t>图来自 experiment/pi_bench_joints　　数字来自 100 条端侧实测与 Mac 联调 CSV</a:t>
            </a:r>
            <a:endParaRPr sz="1300" b="0">
              <a:solidFill>
                <a:srgbClr val="8AA0A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2807</Words>
  <Application>WPS 演示</Application>
  <PresentationFormat>On-screen Show (4:3)</PresentationFormat>
  <Paragraphs>288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宋体</vt:lpstr>
      <vt:lpstr>Wingdings</vt:lpstr>
      <vt:lpstr>Arial</vt:lpstr>
      <vt:lpstr>PingFang SC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NEF</cp:lastModifiedBy>
  <cp:revision>2</cp:revision>
  <dcterms:created xsi:type="dcterms:W3CDTF">2026-08-20T06:23:44Z</dcterms:created>
  <dcterms:modified xsi:type="dcterms:W3CDTF">2026-08-20T06:23:44Z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A618A97E224089F0709D866AFC53CB15_42</vt:lpwstr>
  </property>
  <property fmtid="{D5CDD505-2E9C-101B-9397-08002B2CF9AE}" pid="3" name="KSOProductBuildVer">
    <vt:lpwstr>2052-12.1.21861.21861</vt:lpwstr>
  </property>
</Properties>
</file>